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201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097280"/>
            <a:ext cx="5029200" cy="5029200"/>
          </a:xfrm>
          <a:prstGeom prst="ellipse">
            <a:avLst/>
          </a:prstGeom>
          <a:solidFill>
            <a:srgbClr val="5C3A2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5C3A21">
              <a:alpha val="50000"/>
            </a:srgbClr>
          </a:solidFill>
          <a:ln/>
        </p:spPr>
      </p:sp>
      <p:pic>
        <p:nvPicPr>
          <p:cNvPr id="4" name="Image 0" descr="/home/claude/icons/activity_C9A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229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INTELIGENCIA ARTIFICIAL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5176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Afinador de Violín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Inteligencia Artificial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6177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audio en tiempo real (Teachable Machine) combinada con detección de pitch (librosa) y retroalimentación visual por cámara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943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Belen Mejia Medina  |  Ingeniería en Inteligencia Artificial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Católica Boliviana — Santa Cruz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Afinar un violín a oído es una habilidad que toma años en desarrollarse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5" name="Image 0" descr="/home/claude/icons/target_F5ED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0756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93852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difícil de lograr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313432"/>
            <a:ext cx="905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unos pocos Hz de diferencia requiere oído entrenado — un desafío real para estudiantes principiantes.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548640" cy="54864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9" name="Image 1" descr="/home/claude/icons/alert_F5ED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930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335584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afinadores comunes no explican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730752"/>
            <a:ext cx="905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solo dicen "sí/no está afinado", sin mostrar cuánta desviación hay ni ayudar a corregirla visualmente.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800600"/>
            <a:ext cx="548640" cy="54864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13" name="Image 2" descr="/home/claude/icons/activity_F5ED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91032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77316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Poca retroalimentación en vivo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5148072"/>
            <a:ext cx="905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Pocas herramientas combinan clasificación inteligente de audio con una interfaz visual clara mientras se toca.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5C3A21"/>
          </a:solidFill>
          <a:ln/>
        </p:spPr>
      </p:sp>
      <p:pic>
        <p:nvPicPr>
          <p:cNvPr id="3" name="Image 0" descr="/home/claude/icons/target_C9A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37744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709160" y="1737360"/>
            <a:ext cx="68580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2E1B0E"/>
                </a:solidFill>
              </a:rPr>
              <a:t>Construir un sistema que: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 err="1">
                <a:solidFill>
                  <a:srgbClr val="2E1B0E"/>
                </a:solidFill>
              </a:rPr>
              <a:t>Escuche</a:t>
            </a:r>
            <a:r>
              <a:rPr lang="en-US" sz="1450" dirty="0">
                <a:solidFill>
                  <a:srgbClr val="2E1B0E"/>
                </a:solidFill>
              </a:rPr>
              <a:t> las </a:t>
            </a:r>
            <a:r>
              <a:rPr lang="en-US" sz="1450" dirty="0" err="1">
                <a:solidFill>
                  <a:srgbClr val="2E1B0E"/>
                </a:solidFill>
              </a:rPr>
              <a:t>cuerdas</a:t>
            </a:r>
            <a:r>
              <a:rPr lang="en-US" sz="1450" dirty="0">
                <a:solidFill>
                  <a:srgbClr val="2E1B0E"/>
                </a:solidFill>
              </a:rPr>
              <a:t> La (440Hz), Sol (196Hz), Re (293.66Hz), Mi (659.25) de un violín en tiempo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1B0E"/>
                </a:solidFill>
              </a:rPr>
              <a:t>Clasifique si está afinada o desafinada usando un modelo de audio entrenado en Teachable Machine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1B0E"/>
                </a:solidFill>
              </a:rPr>
              <a:t>Calcule la desviación exacta en cents usando procesamiento de señales (librosa)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E1B0E"/>
                </a:solidFill>
              </a:rPr>
              <a:t>Muestre el resultado en una ventana de cámara en vivo, con color según qué tan afinado está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técnicas de IA combinadas: clasificación (deep learning) + procesamiento de señales (DSP)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3317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5C3A21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2221992"/>
            <a:ext cx="640080" cy="64008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6" name="Image 0" descr="/home/claude/icons/mic_C9A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" y="235915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9260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Micrófono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44728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1s de audio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(44,100 muestras)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44952" y="2990088"/>
            <a:ext cx="265176" cy="23774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3337560" y="1965960"/>
            <a:ext cx="23317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5C3A21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183380" y="2221992"/>
            <a:ext cx="640080" cy="64008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12" name="Image 1" descr="/home/claude/icons/cpu_C9A2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2359152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29000" y="29260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344728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inicial: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¿hay nota o silencio?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696712" y="2990088"/>
            <a:ext cx="265176" cy="23774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6" name="Shape 12"/>
          <p:cNvSpPr/>
          <p:nvPr/>
        </p:nvSpPr>
        <p:spPr>
          <a:xfrm>
            <a:off x="5989320" y="1965960"/>
            <a:ext cx="23317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5C3A21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835140" y="2221992"/>
            <a:ext cx="640080" cy="64008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18" name="Image 2" descr="/home/claude/icons/activity_C9A2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35915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080760" y="29260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(pYIN)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080760" y="344728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exacta,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cuerda y cents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348472" y="2990088"/>
            <a:ext cx="265176" cy="23774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2" name="Shape 17"/>
          <p:cNvSpPr/>
          <p:nvPr/>
        </p:nvSpPr>
        <p:spPr>
          <a:xfrm>
            <a:off x="8641080" y="1965960"/>
            <a:ext cx="23317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5C3A21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486900" y="2221992"/>
            <a:ext cx="640080" cy="640080"/>
          </a:xfrm>
          <a:prstGeom prst="ellipse">
            <a:avLst/>
          </a:prstGeom>
          <a:solidFill>
            <a:srgbClr val="5C3A21"/>
          </a:solidFill>
          <a:ln/>
        </p:spPr>
      </p:sp>
      <p:pic>
        <p:nvPicPr>
          <p:cNvPr id="24" name="Image 3" descr="/home/claude/icons/camera_C9A2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4060" y="235915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732520" y="29260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8732520" y="344728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color 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en vivo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8580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diseño: Teachable Machine detecta si hay actividad (nota vs. silencio); librosa mide la frecuencia exacta, identifica automáticamente la cuerda (Sol/Re/La/Mi, la más cercana en escala de cents) y decide la afinación final.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685800" y="5349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micrófono y la cámara corren en hilos (threads) separados: el audio se analiza cada ~1s mientras la cámara se actualiza de forma fluida.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entrenamiento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Grabación directa desde el navegador (Teachable Machine, proyecto de Audio) usando el micrófono de la PC — el mismo que se usa en producción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Alcance: las 4 notas naturales de las cuerdas al aire (Sol, Re, La, Mi) — confirmado con el docente como alcance de esta fase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Clases genéricas (no una por cuerda): se mezclaron ejemplos de las 4 cuerdas dentro de "Afinada" y "Desafinada", para que el modelo aprenda el patrón acústico general en vez de memorizar un timbre específico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0" y="1280160"/>
            <a:ext cx="0" cy="4846320"/>
          </a:xfrm>
          <a:prstGeom prst="line">
            <a:avLst/>
          </a:prstGeom>
          <a:noFill/>
          <a:ln w="9525">
            <a:solidFill>
              <a:srgbClr val="7A6A58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583680" y="1234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finales del modelo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178308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5EDE0"/>
          </a:solidFill>
          <a:ln/>
        </p:spPr>
      </p:sp>
      <p:sp>
        <p:nvSpPr>
          <p:cNvPr id="8" name="Shape 6"/>
          <p:cNvSpPr/>
          <p:nvPr/>
        </p:nvSpPr>
        <p:spPr>
          <a:xfrm>
            <a:off x="6720840" y="1929384"/>
            <a:ext cx="274320" cy="274320"/>
          </a:xfrm>
          <a:prstGeom prst="ellipse">
            <a:avLst/>
          </a:prstGeom>
          <a:solidFill>
            <a:srgbClr val="7A6A5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0" y="183794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Noise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1837944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muestras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51460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5EDE0"/>
          </a:solidFill>
          <a:ln/>
        </p:spPr>
      </p:sp>
      <p:sp>
        <p:nvSpPr>
          <p:cNvPr id="12" name="Shape 10"/>
          <p:cNvSpPr/>
          <p:nvPr/>
        </p:nvSpPr>
        <p:spPr>
          <a:xfrm>
            <a:off x="6720840" y="266090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0" y="256946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Afinada (4 cuerdas)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569464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muestras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0" y="324612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5ED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720840" y="3392424"/>
            <a:ext cx="274320" cy="2743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0" y="330098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Desafinada (4 cuerdas)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300984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muestras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411480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5C3A2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233672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diseño: se probó inicialmente con clases separadas por matiz de desafinación y por cuerda. Ambas resultaron inestables, así que se optó por clases genéricas (Afinada/Desafinada) con las 4 cuerdas mezcladas, dejando la decisión final de afinación a la medición en cents.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técnicas clave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decisión responde a una limitación real encontrada durante el desarrollo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476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6" name="Image 0" descr="/home/claude/icons/cpu_5C3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0482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87752"/>
            <a:ext cx="22037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TFLite, no Keras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227832"/>
            <a:ext cx="220370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de audio de Teachable Machine solo exportan a TF.js o TFLite — no existe export a Keras (.h5) para audio, a diferencia de imagen.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83280" y="1691640"/>
            <a:ext cx="2606040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9476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/home/claude/icons/activity_5C3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4" y="20482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84448" y="2587752"/>
            <a:ext cx="22037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 en vez de aubio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584448" y="3227832"/>
            <a:ext cx="220370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aubio requiere compilar con Visual C++ Build Tools en Windows; una vez instalado, su cálculo de confianza fue poco confiable. librosa.pyin resultó más estable.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1691640"/>
            <a:ext cx="2606040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19476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6" name="Image 2" descr="/home/claude/icons/layers_5C3A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04825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27648" y="2587752"/>
            <a:ext cx="22037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separados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327648" y="3227832"/>
            <a:ext cx="220370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de audio bloquea ~1 segundo por ciclo. Un hilo propio permite que la cámara se actualice de forma fluida en el hilo principal.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869680" y="1691640"/>
            <a:ext cx="2606040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19476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1" name="Image 3" descr="/home/claude/icons/target_5C3A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204825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70848" y="2587752"/>
            <a:ext cx="22037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Cents corrigen a TM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9070848" y="3227832"/>
            <a:ext cx="220370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clasificación de Teachable Machine resultó inconsistente para una misma medición exacta. La decisión final de afinación se corrige con la precisión en cents.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vivo del modelo exportado, corriendo localmente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5ED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56,1 %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concordancia solo con</a:t>
            </a:r>
            <a:br/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del clasificador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5ED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343400" y="182880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92,1 %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6974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concordancia con corrección</a:t>
            </a:r>
            <a:br/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cents (105 de 114 lecturas)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5ED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046720" y="182880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cents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6974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actual de la</a:t>
            </a:r>
            <a:br/>
            <a:r>
              <a:rPr lang="en-US" sz="1200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de frecuencia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del diseño: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51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3 clases por matiz de desafinación: confianza inestable (39–65 %), clases confundidas entre sí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2 clases genéricas + 4 cuerdas mezcladas: la clasificación de Teachable Machine seguía siendo inconsistente para la misma medición exacta (0 cents)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Diseño final: Teachable Machine solo filtra actividad (nota vs. silencio); la decisión de afinación se corrige con la precisión medida en cents — resultado estable y coherente en las 4 cuerdas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62356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5C3A2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68680" y="5742432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la medición determinística (cents) resultó más confiable que el clasificador aprendido para decidir "afinado/desafinado" — Teachable Machine aporta más valor como detector de actividad.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Interfaz visual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color en la ventana de cámara (OpenCV)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6035040" cy="4114800"/>
          </a:xfrm>
          <a:prstGeom prst="roundRect">
            <a:avLst>
              <a:gd name="adj" fmla="val 1111"/>
            </a:avLst>
          </a:prstGeom>
          <a:solidFill>
            <a:srgbClr val="1A1A1A"/>
          </a:solidFill>
          <a:ln w="25400">
            <a:solidFill>
              <a:srgbClr val="5C3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Afinador de Violín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Afinada - Cuerda 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0120" y="4800600"/>
            <a:ext cx="557784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48006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440.0 Hz | +0.0 cents | Precision: 100%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color e intensidad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40880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35240" y="2194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intenso — Afinada, precisión alta (~100%)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040880" y="28529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FA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35240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tenue — Afinada, precisión más baja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0" y="35112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8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35240" y="351129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tenue — Desafinada, desviación menor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40880" y="41696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3261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35240" y="416966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1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intenso — Desafinada, desviación grande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96519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 = sin nota sonando (Background Noise)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1B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y trabajo futuro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oundRect">
            <a:avLst>
              <a:gd name="adj" fmla="val 2041"/>
            </a:avLst>
          </a:prstGeom>
          <a:solidFill>
            <a:srgbClr val="F5EDE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Acotado a las notas naturales de las 4 cuerdas al aire (Sol, Re, La, Mi) — alcance definido junto al docente para esta fase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Requiere ambiente relativamente silencioso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Ciclo de análisis de ~1 segundo (no instantáneo)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1B0E"/>
                </a:solidFill>
              </a:rPr>
              <a:t>Ocasional error de octava en transiciones entre notas (mitigado con un filtro de corrección)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3716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5C3A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(propuesta)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Extender a las demás notas naturales de la escala (no solo cuerdas al aire) 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 err="1">
                <a:solidFill>
                  <a:srgbClr val="FFFFFF"/>
                </a:solidFill>
              </a:rPr>
              <a:t>Reducir</a:t>
            </a:r>
            <a:r>
              <a:rPr lang="en-US" sz="1300" dirty="0">
                <a:solidFill>
                  <a:srgbClr val="FFFFFF"/>
                </a:solidFill>
              </a:rPr>
              <a:t> la latencia con ventanas de análisis más pequeñas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Historial de sesión (log) para ver el progreso de afinación en el tiempo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1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cons/check_C9A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371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194560"/>
            <a:ext cx="9601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5EDE0"/>
                </a:solidFill>
              </a:rPr>
              <a:t>Combinar clasificación de audio (deep learning) con procesamiento de señales (DSP) aprovecha lo mejor de cada técnica: robustez de un lado, precisión numérica del otro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5EDE0"/>
                </a:solidFill>
              </a:rPr>
              <a:t>Las decisiones </a:t>
            </a:r>
            <a:r>
              <a:rPr lang="en-US" sz="1450" dirty="0" err="1">
                <a:solidFill>
                  <a:srgbClr val="F5EDE0"/>
                </a:solidFill>
              </a:rPr>
              <a:t>técnicas</a:t>
            </a:r>
            <a:r>
              <a:rPr lang="en-US" sz="1450" dirty="0">
                <a:solidFill>
                  <a:srgbClr val="F5EDE0"/>
                </a:solidFill>
              </a:rPr>
              <a:t> (3 clases, librosa sobre aubio, hilos separados) surgieron de problemas reales encontrados durante el desarrollo, no de la teoría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F5EDE0"/>
                </a:solidFill>
              </a:rPr>
              <a:t>El sistema corre completamente en local, sin dependencias externas en tiempo de ejecución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822960" y="4846320"/>
            <a:ext cx="10332720" cy="0"/>
          </a:xfrm>
          <a:prstGeom prst="line">
            <a:avLst/>
          </a:prstGeom>
          <a:noFill/>
          <a:ln w="9525">
            <a:solidFill>
              <a:srgbClr val="C9A227"/>
            </a:solidFill>
            <a:prstDash val="solid"/>
          </a:ln>
        </p:spPr>
      </p:sp>
      <p:pic>
        <p:nvPicPr>
          <p:cNvPr id="6" name="Image 1" descr="/home/claude/icons/github_F5ED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074920"/>
            <a:ext cx="320040" cy="320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E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github.com/belenmejia07/ModeloAfinador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6692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09160" y="1645920"/>
            <a:ext cx="2743200" cy="2743200"/>
          </a:xfrm>
          <a:prstGeom prst="ellipse">
            <a:avLst/>
          </a:prstGeom>
          <a:solidFill>
            <a:srgbClr val="5C3A21">
              <a:alpha val="70000"/>
            </a:srgbClr>
          </a:solidFill>
          <a:ln/>
        </p:spPr>
      </p:sp>
      <p:pic>
        <p:nvPicPr>
          <p:cNvPr id="3" name="Image 0" descr="/home/claude/icons/mic_C9A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46888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61772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534924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en tiempo real + cálculo de cents + retroalimentación visual por cámara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1119</Words>
  <Application>Microsoft Office PowerPoint</Application>
  <PresentationFormat>Panorámica</PresentationFormat>
  <Paragraphs>114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Belen Mejia Medina</cp:lastModifiedBy>
  <cp:revision>2</cp:revision>
  <dcterms:created xsi:type="dcterms:W3CDTF">2026-09-23T01:59:45Z</dcterms:created>
  <dcterms:modified xsi:type="dcterms:W3CDTF">2026-10-17T03:55:27Z</dcterms:modified>
</cp:coreProperties>
</file>