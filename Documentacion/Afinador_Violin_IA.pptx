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4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100" y="1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12480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1B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097280"/>
            <a:ext cx="5029200" cy="5029200"/>
          </a:xfrm>
          <a:prstGeom prst="ellipse">
            <a:avLst/>
          </a:prstGeom>
          <a:solidFill>
            <a:srgbClr val="5C3A21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389120"/>
            <a:ext cx="3657600" cy="3657600"/>
          </a:xfrm>
          <a:prstGeom prst="ellipse">
            <a:avLst/>
          </a:prstGeom>
          <a:solidFill>
            <a:srgbClr val="5C3A21">
              <a:alpha val="50000"/>
            </a:srgbClr>
          </a:solidFill>
          <a:ln/>
        </p:spPr>
      </p:sp>
      <p:pic>
        <p:nvPicPr>
          <p:cNvPr id="4" name="Image 0" descr="/home/claude/icons/activity_C9A22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82296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DE INTELIGENCIA ARTIFICIAL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2651760"/>
            <a:ext cx="98755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Afinador de Violín</a:t>
            </a:r>
            <a:endParaRPr lang="en-US" sz="4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 Inteligencia Artificial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461772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5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 de audio en tiempo real (Teachable Machine) combinada con detección de pitch (librosa) y retroalimentación visual por cámara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22960" y="5806440"/>
            <a:ext cx="2926080" cy="0"/>
          </a:xfrm>
          <a:prstGeom prst="line">
            <a:avLst/>
          </a:prstGeom>
          <a:noFill/>
          <a:ln w="19050">
            <a:solidFill>
              <a:srgbClr val="C9A22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59436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 err="1">
                <a:solidFill>
                  <a:srgbClr val="F5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Belén</a:t>
            </a:r>
            <a:r>
              <a:rPr lang="en-US" sz="1300" dirty="0">
                <a:solidFill>
                  <a:srgbClr val="F5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Mejia Medina  |  Ingeniería en Inteligencia Artificial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5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Católica Boliviana — Santa Cruz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ED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E1B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43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Afinar un violín a oído es una habilidad que toma años en desarrollarse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48640" cy="548640"/>
          </a:xfrm>
          <a:prstGeom prst="ellipse">
            <a:avLst/>
          </a:prstGeom>
          <a:solidFill>
            <a:srgbClr val="5C3A21"/>
          </a:solidFill>
          <a:ln/>
        </p:spPr>
      </p:sp>
      <p:pic>
        <p:nvPicPr>
          <p:cNvPr id="5" name="Image 0" descr="/home/claude/icons/target_F5EDE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2075688"/>
            <a:ext cx="329184" cy="3291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938528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1B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Precisión difícil de lograr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417320" y="2313432"/>
            <a:ext cx="9052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Distinguir unos pocos Hz de diferencia requiere oído entrenado — un desafío real para estudiantes principiantes.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3383280"/>
            <a:ext cx="548640" cy="548640"/>
          </a:xfrm>
          <a:prstGeom prst="ellipse">
            <a:avLst/>
          </a:prstGeom>
          <a:solidFill>
            <a:srgbClr val="5C3A21"/>
          </a:solidFill>
          <a:ln/>
        </p:spPr>
      </p:sp>
      <p:pic>
        <p:nvPicPr>
          <p:cNvPr id="9" name="Image 1" descr="/home/claude/icons/alert_F5EDE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3493008"/>
            <a:ext cx="329184" cy="32918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17320" y="3355848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1B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afinadores comunes no explican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1417320" y="3730752"/>
            <a:ext cx="9052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mayoría solo dicen "sí/no está afinado", sin mostrar cuánta desviación hay ni ayudar a corregirla visualmente.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4800600"/>
            <a:ext cx="548640" cy="548640"/>
          </a:xfrm>
          <a:prstGeom prst="ellipse">
            <a:avLst/>
          </a:prstGeom>
          <a:solidFill>
            <a:srgbClr val="5C3A21"/>
          </a:solidFill>
          <a:ln/>
        </p:spPr>
      </p:sp>
      <p:pic>
        <p:nvPicPr>
          <p:cNvPr id="13" name="Image 2" descr="/home/claude/icons/activity_F5EDE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4910328"/>
            <a:ext cx="329184" cy="32918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417320" y="4773168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1B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Poca retroalimentación en vivo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1417320" y="5148072"/>
            <a:ext cx="9052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Pocas herramientas combinan clasificación inteligente de audio con una interfaz visual clara mientras se toca.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5C3A21"/>
          </a:solidFill>
          <a:ln/>
        </p:spPr>
      </p:sp>
      <p:pic>
        <p:nvPicPr>
          <p:cNvPr id="3" name="Image 0" descr="/home/claude/icons/target_C9A22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2377440"/>
            <a:ext cx="1188720" cy="11887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374904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4709160" y="1737360"/>
            <a:ext cx="68580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1400"/>
              </a:spcAft>
              <a:buNone/>
            </a:pPr>
            <a:r>
              <a:rPr lang="en-US" sz="1600" b="1" dirty="0">
                <a:solidFill>
                  <a:srgbClr val="2E1B0E"/>
                </a:solidFill>
              </a:rPr>
              <a:t>Construir un sistema que: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 err="1">
                <a:solidFill>
                  <a:srgbClr val="2E1B0E"/>
                </a:solidFill>
              </a:rPr>
              <a:t>Escuche</a:t>
            </a:r>
            <a:r>
              <a:rPr lang="en-US" sz="1450" dirty="0">
                <a:solidFill>
                  <a:srgbClr val="2E1B0E"/>
                </a:solidFill>
              </a:rPr>
              <a:t> las </a:t>
            </a:r>
            <a:r>
              <a:rPr lang="en-US" sz="1450" dirty="0" err="1">
                <a:solidFill>
                  <a:srgbClr val="2E1B0E"/>
                </a:solidFill>
              </a:rPr>
              <a:t>cuerdas</a:t>
            </a:r>
            <a:r>
              <a:rPr lang="en-US" sz="1450" dirty="0">
                <a:solidFill>
                  <a:srgbClr val="2E1B0E"/>
                </a:solidFill>
              </a:rPr>
              <a:t> SOL, RE, LA, MI (196.00 Hz, 293.00 Hz, 440Hz, 659.25 Hz) de un violín en tiempo real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2E1B0E"/>
                </a:solidFill>
              </a:rPr>
              <a:t>Clasifique si está afinada o desafinada usando un modelo de audio entrenado en Teachable Machine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2E1B0E"/>
                </a:solidFill>
              </a:rPr>
              <a:t>Calcule la desviación exacta en cents usando procesamiento de señales (librosa)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2E1B0E"/>
                </a:solidFill>
              </a:rPr>
              <a:t>Muestre el resultado en una ventana de cámara en vivo, con color según qué tan afinado está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ED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1B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del sistema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técnicas de IA combinadas: clasificación (deep learning) + procesamiento de señales (DSP)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233172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5C3A21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31620" y="2221992"/>
            <a:ext cx="640080" cy="640080"/>
          </a:xfrm>
          <a:prstGeom prst="ellipse">
            <a:avLst/>
          </a:prstGeom>
          <a:solidFill>
            <a:srgbClr val="5C3A21"/>
          </a:solidFill>
          <a:ln/>
        </p:spPr>
      </p:sp>
      <p:pic>
        <p:nvPicPr>
          <p:cNvPr id="6" name="Image 0" descr="/home/claude/icons/mic_C9A22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8780" y="2359152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92608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E1B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Micrófono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447288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1s de audio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(44,100 muestras)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044952" y="2990088"/>
            <a:ext cx="265176" cy="237744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10" name="Shape 7"/>
          <p:cNvSpPr/>
          <p:nvPr/>
        </p:nvSpPr>
        <p:spPr>
          <a:xfrm>
            <a:off x="3337560" y="1965960"/>
            <a:ext cx="233172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5C3A21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183380" y="2221992"/>
            <a:ext cx="640080" cy="640080"/>
          </a:xfrm>
          <a:prstGeom prst="ellipse">
            <a:avLst/>
          </a:prstGeom>
          <a:solidFill>
            <a:srgbClr val="5C3A21"/>
          </a:solidFill>
          <a:ln/>
        </p:spPr>
      </p:sp>
      <p:pic>
        <p:nvPicPr>
          <p:cNvPr id="12" name="Image 1" descr="/home/claude/icons/cpu_C9A22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0540" y="2359152"/>
            <a:ext cx="365760" cy="3657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429000" y="292608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E1B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Teachable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2E1B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</a:t>
            </a:r>
            <a:endParaRPr lang="en-US" sz="1350" dirty="0"/>
          </a:p>
        </p:txBody>
      </p:sp>
      <p:sp>
        <p:nvSpPr>
          <p:cNvPr id="14" name="Text 10"/>
          <p:cNvSpPr txBox="1"/>
          <p:nvPr/>
        </p:nvSpPr>
        <p:spPr>
          <a:xfrm>
            <a:off x="3429000" y="3447288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inicial: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¿hay nota o silencio?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696712" y="2990088"/>
            <a:ext cx="265176" cy="237744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16" name="Shape 12"/>
          <p:cNvSpPr/>
          <p:nvPr/>
        </p:nvSpPr>
        <p:spPr>
          <a:xfrm>
            <a:off x="5989320" y="1965960"/>
            <a:ext cx="233172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5C3A21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835140" y="2221992"/>
            <a:ext cx="640080" cy="640080"/>
          </a:xfrm>
          <a:prstGeom prst="ellipse">
            <a:avLst/>
          </a:prstGeom>
          <a:solidFill>
            <a:srgbClr val="5C3A21"/>
          </a:solidFill>
          <a:ln/>
        </p:spPr>
      </p:sp>
      <p:pic>
        <p:nvPicPr>
          <p:cNvPr id="18" name="Image 2" descr="/home/claude/icons/activity_C9A22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72300" y="2359152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080760" y="292608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E1B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librosa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2E1B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(pYIN)</a:t>
            </a:r>
            <a:endParaRPr lang="en-US" sz="1350" dirty="0"/>
          </a:p>
        </p:txBody>
      </p:sp>
      <p:sp>
        <p:nvSpPr>
          <p:cNvPr id="20" name="Text 15"/>
          <p:cNvSpPr txBox="1"/>
          <p:nvPr/>
        </p:nvSpPr>
        <p:spPr>
          <a:xfrm>
            <a:off x="6080760" y="3447288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Frecuencia exacta,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cuerda y cents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8348472" y="2990088"/>
            <a:ext cx="265176" cy="237744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22" name="Shape 17"/>
          <p:cNvSpPr/>
          <p:nvPr/>
        </p:nvSpPr>
        <p:spPr>
          <a:xfrm>
            <a:off x="8641080" y="1965960"/>
            <a:ext cx="233172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5C3A21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486900" y="2221992"/>
            <a:ext cx="640080" cy="640080"/>
          </a:xfrm>
          <a:prstGeom prst="ellipse">
            <a:avLst/>
          </a:prstGeom>
          <a:solidFill>
            <a:srgbClr val="5C3A21"/>
          </a:solidFill>
          <a:ln/>
        </p:spPr>
      </p:sp>
      <p:pic>
        <p:nvPicPr>
          <p:cNvPr id="24" name="Image 3" descr="/home/claude/icons/camera_C9A22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24060" y="2359152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8732520" y="292608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E1B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endParaRPr lang="en-US" sz="1350" dirty="0"/>
          </a:p>
        </p:txBody>
      </p:sp>
      <p:sp>
        <p:nvSpPr>
          <p:cNvPr id="26" name="Text 20"/>
          <p:cNvSpPr txBox="1"/>
          <p:nvPr/>
        </p:nvSpPr>
        <p:spPr>
          <a:xfrm>
            <a:off x="8732520" y="3447288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 color y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en vivo</a:t>
            </a:r>
            <a:endParaRPr lang="en-US" sz="1050" dirty="0"/>
          </a:p>
        </p:txBody>
      </p:sp>
      <p:sp>
        <p:nvSpPr>
          <p:cNvPr id="27" name="Text 21"/>
          <p:cNvSpPr txBox="1"/>
          <p:nvPr/>
        </p:nvSpPr>
        <p:spPr>
          <a:xfrm>
            <a:off x="685800" y="470916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de diseño: Teachable Machine detecta si hay actividad (nota vs. silencio); librosa mide la frecuencia exacta, identifica automáticamente la cuerda (Sol/Re/La/Mi, la más cercana en escala de cents) y decide la afinación final.</a:t>
            </a:r>
            <a:endParaRPr lang="en-US" sz="1200" dirty="0"/>
          </a:p>
        </p:txBody>
      </p:sp>
      <p:sp>
        <p:nvSpPr>
          <p:cNvPr id="28" name="Text 22"/>
          <p:cNvSpPr txBox="1"/>
          <p:nvPr/>
        </p:nvSpPr>
        <p:spPr>
          <a:xfrm>
            <a:off x="685800" y="534924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micrófono y la cámara corren en hilos (threads) separados: el audio se analiza cada ~1s mientras la cámara se actualiza de forma fluida.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1B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y entrenamiento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C3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53949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E1B0E"/>
                </a:solidFill>
              </a:rPr>
              <a:t>Grabación directa desde el navegador (Teachable Machine, proyecto de Audio) usando el micrófono de la PC — el mismo que se usa en producción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E1B0E"/>
                </a:solidFill>
              </a:rPr>
              <a:t>Alcance: las 4 notas naturales de las cuerdas al aire (Sol, Re, La, Mi) — confirmado con el docente como alcance de esta fase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E1B0E"/>
                </a:solidFill>
              </a:rPr>
              <a:t>Clases genéricas (no una por cuerda): se mezclaron ejemplos de las 4 cuerdas dentro de "Afinada" y "Desafinada", para que el modelo aprenda el patrón acústico general en vez de memorizar un timbre específico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309360" y="1280160"/>
            <a:ext cx="0" cy="4846320"/>
          </a:xfrm>
          <a:prstGeom prst="line">
            <a:avLst/>
          </a:prstGeom>
          <a:noFill/>
          <a:ln w="9525">
            <a:solidFill>
              <a:srgbClr val="7A6A58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6583680" y="12344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C3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Clases finales del modelo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583680" y="1783080"/>
            <a:ext cx="4846320" cy="566928"/>
          </a:xfrm>
          <a:prstGeom prst="roundRect">
            <a:avLst>
              <a:gd name="adj" fmla="val 12903"/>
            </a:avLst>
          </a:prstGeom>
          <a:solidFill>
            <a:srgbClr val="F5EDE0"/>
          </a:solidFill>
          <a:ln/>
        </p:spPr>
      </p:sp>
      <p:sp>
        <p:nvSpPr>
          <p:cNvPr id="8" name="Shape 6"/>
          <p:cNvSpPr/>
          <p:nvPr/>
        </p:nvSpPr>
        <p:spPr>
          <a:xfrm>
            <a:off x="6720840" y="1929384"/>
            <a:ext cx="274320" cy="274320"/>
          </a:xfrm>
          <a:prstGeom prst="ellipse">
            <a:avLst/>
          </a:prstGeom>
          <a:solidFill>
            <a:srgbClr val="7A6A5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132320" y="1837944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E1B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Noise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9692640" y="1837944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muestras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583680" y="2514600"/>
            <a:ext cx="4846320" cy="566928"/>
          </a:xfrm>
          <a:prstGeom prst="roundRect">
            <a:avLst>
              <a:gd name="adj" fmla="val 12903"/>
            </a:avLst>
          </a:prstGeom>
          <a:solidFill>
            <a:srgbClr val="F5EDE0"/>
          </a:solidFill>
          <a:ln/>
        </p:spPr>
      </p:sp>
      <p:sp>
        <p:nvSpPr>
          <p:cNvPr id="12" name="Shape 10"/>
          <p:cNvSpPr/>
          <p:nvPr/>
        </p:nvSpPr>
        <p:spPr>
          <a:xfrm>
            <a:off x="6720840" y="2660904"/>
            <a:ext cx="274320" cy="27432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132320" y="2569464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E1B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Afinada (4 cuerdas)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9692640" y="2569464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muestras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583680" y="3246120"/>
            <a:ext cx="4846320" cy="566928"/>
          </a:xfrm>
          <a:prstGeom prst="roundRect">
            <a:avLst>
              <a:gd name="adj" fmla="val 12903"/>
            </a:avLst>
          </a:prstGeom>
          <a:solidFill>
            <a:srgbClr val="F5EDE0"/>
          </a:solidFill>
          <a:ln/>
        </p:spPr>
      </p:sp>
      <p:sp>
        <p:nvSpPr>
          <p:cNvPr id="16" name="Shape 14"/>
          <p:cNvSpPr/>
          <p:nvPr/>
        </p:nvSpPr>
        <p:spPr>
          <a:xfrm>
            <a:off x="6720840" y="3392424"/>
            <a:ext cx="274320" cy="274320"/>
          </a:xfrm>
          <a:prstGeom prst="ellipse">
            <a:avLst/>
          </a:prstGeom>
          <a:solidFill>
            <a:srgbClr val="B3261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132320" y="3300984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E1B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Desafinada (4 cuerdas)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9692640" y="3300984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muestras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583680" y="4114800"/>
            <a:ext cx="4846320" cy="1417320"/>
          </a:xfrm>
          <a:prstGeom prst="roundRect">
            <a:avLst>
              <a:gd name="adj" fmla="val 5161"/>
            </a:avLst>
          </a:prstGeom>
          <a:solidFill>
            <a:srgbClr val="5C3A2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812280" y="4233672"/>
            <a:ext cx="4389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 de diseño: se probó inicialmente con clases separadas por matiz de desafinación y por cuerda. Ambas resultaron inestables, así que se optó por clases genéricas (Afinada/Desafinada) con las 4 cuerdas mezcladas, dejando la decisión final de afinación a la medición en cents.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ED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1B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Decisiones técnicas clave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decisión responde a una limitación real encontrada durante el desarrollo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606040" cy="42062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47672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6" name="Image 0" descr="/home/claude/icons/cpu_5C3A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2048256"/>
            <a:ext cx="256032" cy="25603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41248" y="2587752"/>
            <a:ext cx="220370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E1B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TFLite, no Keras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41248" y="3227832"/>
            <a:ext cx="2203704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proyectos de audio de Teachable Machine solo exportan a TF.js o TFLite — no existe export a Keras (.h5) para audio, a diferencia de imagen.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383280" y="1691640"/>
            <a:ext cx="2606040" cy="42062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11880" y="1947672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1" name="Image 1" descr="/home/claude/icons/activity_5C3A2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2464" y="2048256"/>
            <a:ext cx="256032" cy="25603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84448" y="2587752"/>
            <a:ext cx="220370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E1B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librosa en vez de aubio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3584448" y="3227832"/>
            <a:ext cx="2203704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aubio requiere compilar con Visual C++ Build Tools en Windows; una vez instalado, su cálculo de confianza fue poco confiable. librosa.pyin resultó más estable.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126480" y="1691640"/>
            <a:ext cx="2606040" cy="42062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55080" y="1947672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6" name="Image 2" descr="/home/claude/icons/layers_5C3A2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5664" y="2048256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327648" y="2587752"/>
            <a:ext cx="220370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E1B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Hilos separados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6327648" y="3227832"/>
            <a:ext cx="2203704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análisis de audio bloquea ~1 segundo por ciclo. Un hilo propio permite que la cámara se actualice de forma fluida en el hilo principal.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8869680" y="1691640"/>
            <a:ext cx="2606040" cy="42062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098280" y="1947672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1" name="Image 3" descr="/home/claude/icons/target_5C3A2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98864" y="2048256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070848" y="2587752"/>
            <a:ext cx="220370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E1B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Cents corrigen a TM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9070848" y="3227832"/>
            <a:ext cx="2203704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clasificación de Teachable Machine resultó inconsistente para una misma medición exacta. La decisión final de afinación se corrige con la precisión en cents.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1B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en vivo del modelo exportado, corriendo localmente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F5EDE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828800"/>
            <a:ext cx="3520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5C3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cuerdas soportadas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(Sol, Re, La, Mi)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43400" y="169164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F5EDE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343400" y="1828800"/>
            <a:ext cx="3520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±10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4343400" y="2697480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cents de precisión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típica (ej: 437.5 Hz)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46720" y="169164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F5EDE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046720" y="1828800"/>
            <a:ext cx="3520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B32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8046720" y="2697480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identificación correcta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cuerda (post-corrección)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C3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Evolución del diseño: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425196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E1B0E"/>
                </a:solidFill>
              </a:rPr>
              <a:t>3 clases por matiz de desafinación: confianza inestable (26–65%), clases confundidas entre sí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E1B0E"/>
                </a:solidFill>
              </a:rPr>
              <a:t>2 clases genéricas + 4 cuerdas mezcladas: la clasificación de Teachable Machine seguía siendo inconsistente para la misma medición exacta (0 cents)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E1B0E"/>
                </a:solidFill>
              </a:rPr>
              <a:t>Diseño final: Teachable Machine solo filtra actividad (nota vs. silencio); la decisión de afinación se corrige con la precisión medida en cents — resultado estable y coherente en las 4 cuerdas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562356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5C3A2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5742432"/>
            <a:ext cx="10424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Conclusión: la medición determinística (cents) resultó más confiable que el clasificador aprendido para decidir "afinado/desafinado" — Teachable Machine aporta más valor como detector de actividad.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ED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1B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Interfaz visual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color en la ventana de cámara (OpenCV)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731520" y="1691640"/>
            <a:ext cx="6035040" cy="4114800"/>
          </a:xfrm>
          <a:prstGeom prst="roundRect">
            <a:avLst>
              <a:gd name="adj" fmla="val 1111"/>
            </a:avLst>
          </a:prstGeom>
          <a:solidFill>
            <a:srgbClr val="1A1A1A"/>
          </a:solidFill>
          <a:ln w="25400">
            <a:solidFill>
              <a:srgbClr val="5C3A2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87452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Afinador de Violín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286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Afinada - Cuerda La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60120" y="4800600"/>
            <a:ext cx="5577840" cy="4572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4800600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440.0 Hz | +0.0 cents | Precision: 100%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7040880" y="16916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C3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de color e intensidad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040880" y="219456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635240" y="21945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E1B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Verde intenso — Afinada, precisión alta (~100%)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040880" y="285292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6FA36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635240" y="285292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E1B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Verde tenue — Afinada, precisión más baja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040880" y="3511296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D98C8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635240" y="3511296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E1B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Rojo tenue — Desafinada, desviación menor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040880" y="4169664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B3261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35240" y="4169664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E1B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Rojo intenso — Desafinada, desviación grande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7040880" y="496519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Gris = sin nota sonando (Background Noise)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1B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Limitaciones y trabajo futuro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212080" cy="4480560"/>
          </a:xfrm>
          <a:prstGeom prst="roundRect">
            <a:avLst>
              <a:gd name="adj" fmla="val 2041"/>
            </a:avLst>
          </a:prstGeom>
          <a:solidFill>
            <a:srgbClr val="F5EDE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6002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C3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Limitaciones actuales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057400"/>
            <a:ext cx="46634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E1B0E"/>
                </a:solidFill>
              </a:rPr>
              <a:t>Acotado a las notas naturales de las 4 cuerdas al aire (Sol, Re, La, Mi) — alcance definido junto al docente para esta fase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E1B0E"/>
                </a:solidFill>
              </a:rPr>
              <a:t>Requiere ambiente relativamente silencioso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E1B0E"/>
                </a:solidFill>
              </a:rPr>
              <a:t>Ciclo de análisis de ~1 segundo (no instantáneo)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E1B0E"/>
                </a:solidFill>
              </a:rPr>
              <a:t>Ocasional error de octava en transiciones entre notas (mitigado con un filtro de corrección)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126480" y="1371600"/>
            <a:ext cx="5394960" cy="4480560"/>
          </a:xfrm>
          <a:prstGeom prst="roundRect">
            <a:avLst>
              <a:gd name="adj" fmla="val 2041"/>
            </a:avLst>
          </a:prstGeom>
          <a:solidFill>
            <a:srgbClr val="5C3A2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0" y="16002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(propuesta)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2057400"/>
            <a:ext cx="48463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Extender a las demás notas naturales de la escala (no solo cuerdas al aire) — solo requiere ampliar el diccionario de </a:t>
            </a:r>
            <a:r>
              <a:rPr lang="en-US" sz="1300" dirty="0" err="1">
                <a:solidFill>
                  <a:srgbClr val="FFFFFF"/>
                </a:solidFill>
              </a:rPr>
              <a:t>referencias</a:t>
            </a:r>
            <a:r>
              <a:rPr lang="en-US" sz="1300" dirty="0">
                <a:solidFill>
                  <a:srgbClr val="FFFFFF"/>
                </a:solidFill>
              </a:rPr>
              <a:t>, sin </a:t>
            </a:r>
            <a:r>
              <a:rPr lang="en-US" sz="1300" dirty="0" err="1">
                <a:solidFill>
                  <a:srgbClr val="FFFFFF"/>
                </a:solidFill>
              </a:rPr>
              <a:t>reentrenar</a:t>
            </a:r>
            <a:r>
              <a:rPr lang="en-US" sz="1300" dirty="0">
                <a:solidFill>
                  <a:srgbClr val="FFFFFF"/>
                </a:solidFill>
              </a:rPr>
              <a:t> </a:t>
            </a:r>
            <a:r>
              <a:rPr lang="en-US" sz="1300" dirty="0" err="1">
                <a:solidFill>
                  <a:srgbClr val="FFFFFF"/>
                </a:solidFill>
              </a:rPr>
              <a:t>el</a:t>
            </a:r>
            <a:r>
              <a:rPr lang="en-US" sz="1300" dirty="0">
                <a:solidFill>
                  <a:srgbClr val="FFFFFF"/>
                </a:solidFill>
              </a:rPr>
              <a:t> </a:t>
            </a:r>
            <a:r>
              <a:rPr lang="en-US" sz="1300" dirty="0" err="1">
                <a:solidFill>
                  <a:srgbClr val="FFFFFF"/>
                </a:solidFill>
              </a:rPr>
              <a:t>clasificador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Reducir la latencia con ventanas de análisis más pequeñas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Historial de sesión (log) para ver el progreso de afinación en el tiempo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E1B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cons/check_C9A22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7315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77240" y="13716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Conclusiones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2194560"/>
            <a:ext cx="96012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F5EDE0"/>
                </a:solidFill>
              </a:rPr>
              <a:t>Combinar clasificación de audio (deep learning) con procesamiento de señales (DSP) aprovecha lo mejor de cada técnica: robustez de un lado, precisión numérica del otro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F5EDE0"/>
                </a:solidFill>
              </a:rPr>
              <a:t>Las decisiones técnicas (2 clases, librosa sobre aubio, hilos separados) surgieron de problemas reales encontrados durante el desarrollo, no de la teoría</a:t>
            </a:r>
            <a:endParaRPr lang="en-US" sz="1450" dirty="0"/>
          </a:p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F5EDE0"/>
                </a:solidFill>
              </a:rPr>
              <a:t>El sistema corre completamente en local, sin dependencias externas en tiempo de ejecución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822960" y="4846320"/>
            <a:ext cx="10332720" cy="0"/>
          </a:xfrm>
          <a:prstGeom prst="line">
            <a:avLst/>
          </a:prstGeom>
          <a:noFill/>
          <a:ln w="9525">
            <a:solidFill>
              <a:srgbClr val="C9A227"/>
            </a:solidFill>
            <a:prstDash val="solid"/>
          </a:ln>
        </p:spPr>
      </p:sp>
      <p:pic>
        <p:nvPicPr>
          <p:cNvPr id="6" name="Image 1" descr="/home/claude/icons/github_F5EDE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5074920"/>
            <a:ext cx="320040" cy="3200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234440" y="5074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ED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github.com/belenmejia07/ModeloAfinador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822960" y="566928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¡Gracias!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E1B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09160" y="1645920"/>
            <a:ext cx="2743200" cy="2743200"/>
          </a:xfrm>
          <a:prstGeom prst="ellipse">
            <a:avLst/>
          </a:prstGeom>
          <a:solidFill>
            <a:srgbClr val="5C3A21">
              <a:alpha val="70000"/>
            </a:srgbClr>
          </a:solidFill>
          <a:ln/>
        </p:spPr>
      </p:sp>
      <p:pic>
        <p:nvPicPr>
          <p:cNvPr id="3" name="Image 0" descr="/home/claude/icons/mic_C9A22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246888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461772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Demostración en vivo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1371600" y="534924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5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 en tiempo real + cálculo de cents + retroalimentación visual por cámara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818</TotalTime>
  <Words>1134</Words>
  <Application>Microsoft Office PowerPoint</Application>
  <PresentationFormat>Panorámica</PresentationFormat>
  <Paragraphs>117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6" baseType="lpstr">
      <vt:lpstr>Arial</vt:lpstr>
      <vt:lpstr>Calibri</vt:lpstr>
      <vt:lpstr>Cambria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Belen Mejia Medina</cp:lastModifiedBy>
  <cp:revision>4</cp:revision>
  <dcterms:created xsi:type="dcterms:W3CDTF">2026-09-23T01:59:45Z</dcterms:created>
  <dcterms:modified xsi:type="dcterms:W3CDTF">2026-10-13T19:46:27Z</dcterms:modified>
</cp:coreProperties>
</file>